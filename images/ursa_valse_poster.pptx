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51206400" cy="323389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3B5F"/>
    <a:srgbClr val="A66B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4680"/>
    <p:restoredTop sz="94667"/>
  </p:normalViewPr>
  <p:slideViewPr>
    <p:cSldViewPr snapToGrid="0" snapToObjects="1">
      <p:cViewPr>
        <p:scale>
          <a:sx n="31" d="100"/>
          <a:sy n="31" d="100"/>
        </p:scale>
        <p:origin x="2248" y="184"/>
      </p:cViewPr>
      <p:guideLst>
        <p:guide orient="horz" pos="2160"/>
        <p:guide pos="2880"/>
      </p:guideLst>
    </p:cSldViewPr>
  </p:slideViewPr>
  <p:notesTextViewPr>
    <p:cViewPr>
      <p:scale>
        <a:sx n="33" d="100"/>
        <a:sy n="33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9AE7C-0A46-CF4C-90E2-1F1499022B69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85838" y="1143000"/>
            <a:ext cx="48863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51AD6B-889C-7F4B-ABBA-F3E6AD38D7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48173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1AD6B-889C-7F4B-ABBA-F3E6AD38D7EA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9571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jp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C4936-642A-DE5E-0010-C8A6B9552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E9BE79F1-6448-AE9C-E7A9-276DCB885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85047"/>
            <a:ext cx="51206400" cy="32339442"/>
          </a:xfrm>
          <a:prstGeom prst="rect">
            <a:avLst/>
          </a:prstGeom>
        </p:spPr>
      </p:pic>
      <p:sp>
        <p:nvSpPr>
          <p:cNvPr id="25" name="Rectangle 3">
            <a:extLst>
              <a:ext uri="{FF2B5EF4-FFF2-40B4-BE49-F238E27FC236}">
                <a16:creationId xmlns:a16="http://schemas.microsoft.com/office/drawing/2014/main" id="{21AC0203-AA90-189D-0812-0D9DB9D340C6}"/>
              </a:ext>
            </a:extLst>
          </p:cNvPr>
          <p:cNvSpPr/>
          <p:nvPr/>
        </p:nvSpPr>
        <p:spPr>
          <a:xfrm>
            <a:off x="295630" y="9656348"/>
            <a:ext cx="18309260" cy="1057655"/>
          </a:xfrm>
          <a:prstGeom prst="rect">
            <a:avLst/>
          </a:prstGeom>
          <a:solidFill>
            <a:srgbClr val="0A3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9">
            <a:extLst>
              <a:ext uri="{FF2B5EF4-FFF2-40B4-BE49-F238E27FC236}">
                <a16:creationId xmlns:a16="http://schemas.microsoft.com/office/drawing/2014/main" id="{2DDD060E-B2CD-6B92-C517-68408EAD8537}"/>
              </a:ext>
            </a:extLst>
          </p:cNvPr>
          <p:cNvSpPr/>
          <p:nvPr/>
        </p:nvSpPr>
        <p:spPr>
          <a:xfrm>
            <a:off x="162606" y="20487725"/>
            <a:ext cx="18816533" cy="1171818"/>
          </a:xfrm>
          <a:prstGeom prst="rect">
            <a:avLst/>
          </a:prstGeom>
          <a:solidFill>
            <a:srgbClr val="0A3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26" descr="image.jpg">
            <a:extLst>
              <a:ext uri="{FF2B5EF4-FFF2-40B4-BE49-F238E27FC236}">
                <a16:creationId xmlns:a16="http://schemas.microsoft.com/office/drawing/2014/main" id="{EA988902-55E8-8240-2B81-E88636DDB8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1292" y="1500655"/>
            <a:ext cx="2678170" cy="26594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4" name="TextBox 27">
            <a:extLst>
              <a:ext uri="{FF2B5EF4-FFF2-40B4-BE49-F238E27FC236}">
                <a16:creationId xmlns:a16="http://schemas.microsoft.com/office/drawing/2014/main" id="{CD39C342-4903-DA7D-DBB0-62E467FB34CB}"/>
              </a:ext>
            </a:extLst>
          </p:cNvPr>
          <p:cNvSpPr txBox="1"/>
          <p:nvPr/>
        </p:nvSpPr>
        <p:spPr>
          <a:xfrm>
            <a:off x="121845" y="4696718"/>
            <a:ext cx="50852999" cy="249467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sz="9600" b="1">
                <a:solidFill>
                  <a:srgbClr val="000000"/>
                </a:solidFill>
                <a:latin typeface="Times New Roman"/>
              </a:defRPr>
            </a:pPr>
            <a:r>
              <a:rPr lang="en" altLang="zh-CN" sz="11500" dirty="0">
                <a:solidFill>
                  <a:srgbClr val="C00000"/>
                </a:solidFill>
                <a:latin typeface="Georgia" panose="02040502050405020303" pitchFamily="18" charset="0"/>
                <a:cs typeface="Alibaba Sans" panose="020B0503020203040204" pitchFamily="34" charset="0"/>
              </a:rPr>
              <a:t>U</a:t>
            </a:r>
            <a:r>
              <a:rPr lang="en" altLang="zh-CN" sz="9600" dirty="0">
                <a:latin typeface="Georgia" panose="02040502050405020303" pitchFamily="18" charset="0"/>
                <a:cs typeface="Alibaba Sans" panose="020B0503020203040204" pitchFamily="34" charset="0"/>
              </a:rPr>
              <a:t>niform Disc</a:t>
            </a:r>
            <a:r>
              <a:rPr lang="en-US" altLang="zh-CN" sz="11500" dirty="0">
                <a:solidFill>
                  <a:srgbClr val="C00000"/>
                </a:solidFill>
                <a:latin typeface="Georgia" panose="02040502050405020303" pitchFamily="18" charset="0"/>
                <a:cs typeface="Alibaba Sans" panose="020B0503020203040204" pitchFamily="34" charset="0"/>
              </a:rPr>
              <a:t>R</a:t>
            </a:r>
            <a:r>
              <a:rPr lang="en" altLang="zh-CN" sz="9600" dirty="0" err="1">
                <a:latin typeface="Georgia" panose="02040502050405020303" pitchFamily="18" charset="0"/>
                <a:cs typeface="Alibaba Sans" panose="020B0503020203040204" pitchFamily="34" charset="0"/>
              </a:rPr>
              <a:t>ete</a:t>
            </a:r>
            <a:r>
              <a:rPr lang="en" altLang="zh-CN" sz="9600" dirty="0">
                <a:latin typeface="Georgia" panose="02040502050405020303" pitchFamily="18" charset="0"/>
                <a:cs typeface="Alibaba Sans" panose="020B0503020203040204" pitchFamily="34" charset="0"/>
              </a:rPr>
              <a:t> </a:t>
            </a:r>
            <a:r>
              <a:rPr lang="en" altLang="zh-CN" sz="9600" dirty="0" err="1">
                <a:latin typeface="Georgia" panose="02040502050405020303" pitchFamily="18" charset="0"/>
                <a:cs typeface="Alibaba Sans" panose="020B0503020203040204" pitchFamily="34" charset="0"/>
              </a:rPr>
              <a:t>Diffu</a:t>
            </a:r>
            <a:r>
              <a:rPr lang="en-US" altLang="zh-CN" sz="11500" dirty="0">
                <a:solidFill>
                  <a:srgbClr val="C00000"/>
                </a:solidFill>
                <a:latin typeface="Georgia" panose="02040502050405020303" pitchFamily="18" charset="0"/>
                <a:cs typeface="Alibaba Sans" panose="020B0503020203040204" pitchFamily="34" charset="0"/>
              </a:rPr>
              <a:t>S</a:t>
            </a:r>
            <a:r>
              <a:rPr lang="en" altLang="zh-CN" sz="9600" dirty="0">
                <a:latin typeface="Georgia" panose="02040502050405020303" pitchFamily="18" charset="0"/>
                <a:cs typeface="Alibaba Sans" panose="020B0503020203040204" pitchFamily="34" charset="0"/>
              </a:rPr>
              <a:t>ion with Metric P</a:t>
            </a:r>
            <a:r>
              <a:rPr lang="en-US" altLang="zh-CN" sz="11500" dirty="0">
                <a:solidFill>
                  <a:srgbClr val="C00000"/>
                </a:solidFill>
                <a:latin typeface="Georgia" panose="02040502050405020303" pitchFamily="18" charset="0"/>
                <a:cs typeface="Alibaba Sans" panose="020B0503020203040204" pitchFamily="34" charset="0"/>
              </a:rPr>
              <a:t>A</a:t>
            </a:r>
            <a:r>
              <a:rPr lang="en" altLang="zh-CN" sz="9600" dirty="0" err="1">
                <a:latin typeface="Georgia" panose="02040502050405020303" pitchFamily="18" charset="0"/>
                <a:cs typeface="Alibaba Sans" panose="020B0503020203040204" pitchFamily="34" charset="0"/>
              </a:rPr>
              <a:t>th</a:t>
            </a:r>
            <a:r>
              <a:rPr lang="en" altLang="zh-CN" sz="9600" dirty="0">
                <a:latin typeface="Georgia" panose="02040502050405020303" pitchFamily="18" charset="0"/>
                <a:cs typeface="Alibaba Sans" panose="020B0503020203040204" pitchFamily="34" charset="0"/>
              </a:rPr>
              <a:t> for Video Generation</a:t>
            </a:r>
          </a:p>
          <a:p>
            <a:pPr algn="ctr">
              <a:defRPr sz="9600" b="1">
                <a:solidFill>
                  <a:srgbClr val="000000"/>
                </a:solidFill>
                <a:latin typeface="Times New Roman"/>
              </a:defRPr>
            </a:pPr>
            <a:endParaRPr lang="en" altLang="zh-CN" sz="4800" dirty="0">
              <a:solidFill>
                <a:srgbClr val="000000"/>
              </a:solidFill>
              <a:latin typeface="Georgia" panose="02040502050405020303" pitchFamily="18" charset="0"/>
              <a:cs typeface="Alibaba Sans" panose="020B0503020203040204" pitchFamily="34" charset="0"/>
            </a:endParaRPr>
          </a:p>
        </p:txBody>
      </p:sp>
      <p:sp>
        <p:nvSpPr>
          <p:cNvPr id="36" name="TextBox 29">
            <a:extLst>
              <a:ext uri="{FF2B5EF4-FFF2-40B4-BE49-F238E27FC236}">
                <a16:creationId xmlns:a16="http://schemas.microsoft.com/office/drawing/2014/main" id="{8DCDDE15-4671-F281-2E73-CE6C65791E31}"/>
              </a:ext>
            </a:extLst>
          </p:cNvPr>
          <p:cNvSpPr txBox="1"/>
          <p:nvPr/>
        </p:nvSpPr>
        <p:spPr>
          <a:xfrm>
            <a:off x="6017411" y="6398321"/>
            <a:ext cx="38914313" cy="9452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Times New Roman"/>
              </a:defRPr>
            </a:pPr>
            <a:r>
              <a:rPr sz="5400" dirty="0" err="1"/>
              <a:t>Haoge</a:t>
            </a:r>
            <a:r>
              <a:rPr sz="5400" dirty="0"/>
              <a:t> Deng</a:t>
            </a:r>
            <a:r>
              <a:rPr lang="en-US" sz="5400" baseline="30000" dirty="0"/>
              <a:t>1,</a:t>
            </a:r>
            <a:r>
              <a:rPr lang="en-US" altLang="zh-CN" sz="5400" baseline="30000" dirty="0"/>
              <a:t>4</a:t>
            </a:r>
            <a:r>
              <a:rPr lang="en-US" sz="5400" baseline="30000" dirty="0"/>
              <a:t>*</a:t>
            </a:r>
            <a:r>
              <a:rPr lang="en-US" altLang="zh-CN" sz="5400" b="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5400" b="1" dirty="0">
                <a:solidFill>
                  <a:srgbClr val="000000"/>
                </a:solidFill>
                <a:latin typeface="Times New Roman"/>
              </a:rPr>
              <a:t>Ting Pan</a:t>
            </a:r>
            <a:r>
              <a:rPr lang="en-US" sz="5400" baseline="30000" dirty="0">
                <a:solidFill>
                  <a:srgbClr val="000000"/>
                </a:solidFill>
                <a:latin typeface="Times New Roman"/>
              </a:rPr>
              <a:t>2,</a:t>
            </a:r>
            <a:r>
              <a:rPr lang="en-US" altLang="zh-CN" sz="5400" baseline="30000" dirty="0">
                <a:solidFill>
                  <a:srgbClr val="000000"/>
                </a:solidFill>
                <a:latin typeface="Times New Roman"/>
              </a:rPr>
              <a:t>4</a:t>
            </a:r>
            <a:r>
              <a:rPr lang="en-US" sz="5400" baseline="30000" dirty="0">
                <a:solidFill>
                  <a:srgbClr val="000000"/>
                </a:solidFill>
                <a:latin typeface="Times New Roman"/>
              </a:rPr>
              <a:t>*</a:t>
            </a:r>
            <a:r>
              <a:rPr lang="en-US" sz="5400" b="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" altLang="zh-CN" sz="5400" b="1" dirty="0">
                <a:solidFill>
                  <a:srgbClr val="000000"/>
                </a:solidFill>
                <a:latin typeface="Times New Roman"/>
              </a:rPr>
              <a:t>Fan Zhang</a:t>
            </a:r>
            <a:r>
              <a:rPr lang="en-US" altLang="zh-CN" sz="5400" b="1" baseline="30000" dirty="0">
                <a:solidFill>
                  <a:srgbClr val="000000"/>
                </a:solidFill>
                <a:latin typeface="Times New Roman"/>
              </a:rPr>
              <a:t>4</a:t>
            </a:r>
            <a:r>
              <a:rPr lang="en" altLang="zh-CN" sz="5400" b="1" baseline="30000" dirty="0">
                <a:solidFill>
                  <a:srgbClr val="000000"/>
                </a:solidFill>
                <a:latin typeface="Times New Roman"/>
              </a:rPr>
              <a:t>*</a:t>
            </a:r>
            <a:r>
              <a:rPr lang="en" altLang="zh-CN" sz="5400" b="1" dirty="0">
                <a:solidFill>
                  <a:srgbClr val="000000"/>
                </a:solidFill>
                <a:latin typeface="Times New Roman"/>
              </a:rPr>
              <a:t>, Liu Yang</a:t>
            </a:r>
            <a:r>
              <a:rPr lang="en-US" altLang="zh-CN" sz="5400" b="1" baseline="30000" dirty="0">
                <a:solidFill>
                  <a:srgbClr val="000000"/>
                </a:solidFill>
                <a:latin typeface="Times New Roman"/>
              </a:rPr>
              <a:t>3</a:t>
            </a:r>
            <a:r>
              <a:rPr lang="en" altLang="zh-CN" sz="5400" baseline="30000" dirty="0">
                <a:solidFill>
                  <a:srgbClr val="000000"/>
                </a:solidFill>
                <a:latin typeface="Times New Roman"/>
              </a:rPr>
              <a:t>,</a:t>
            </a:r>
            <a:r>
              <a:rPr lang="en-US" altLang="zh-CN" sz="5400" baseline="30000" dirty="0">
                <a:solidFill>
                  <a:srgbClr val="000000"/>
                </a:solidFill>
                <a:latin typeface="Times New Roman"/>
              </a:rPr>
              <a:t>4</a:t>
            </a:r>
            <a:r>
              <a:rPr lang="en" altLang="zh-CN" sz="5400" baseline="30000" dirty="0">
                <a:solidFill>
                  <a:srgbClr val="000000"/>
                </a:solidFill>
                <a:latin typeface="Times New Roman"/>
              </a:rPr>
              <a:t>*</a:t>
            </a:r>
            <a:r>
              <a:rPr lang="en" altLang="zh-CN" sz="5400" b="1" dirty="0">
                <a:solidFill>
                  <a:srgbClr val="000000"/>
                </a:solidFill>
                <a:latin typeface="Times New Roman"/>
              </a:rPr>
              <a:t>,</a:t>
            </a:r>
            <a:r>
              <a:rPr lang="en" altLang="zh-CN" sz="54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5400" b="1" dirty="0">
                <a:solidFill>
                  <a:srgbClr val="000000"/>
                </a:solidFill>
                <a:latin typeface="Times New Roman"/>
              </a:rPr>
              <a:t>Z</a:t>
            </a:r>
            <a:r>
              <a:rPr lang="en-US" altLang="zh-CN" sz="5400" b="1" dirty="0">
                <a:solidFill>
                  <a:srgbClr val="000000"/>
                </a:solidFill>
                <a:latin typeface="Times New Roman"/>
              </a:rPr>
              <a:t>huoyan</a:t>
            </a:r>
            <a:r>
              <a:rPr sz="5400" b="1" dirty="0">
                <a:solidFill>
                  <a:srgbClr val="000000"/>
                </a:solidFill>
                <a:latin typeface="Times New Roman"/>
              </a:rPr>
              <a:t> Luo</a:t>
            </a:r>
            <a:r>
              <a:rPr lang="en-US" altLang="zh-CN" sz="5400" b="1" baseline="30000" dirty="0">
                <a:solidFill>
                  <a:srgbClr val="000000"/>
                </a:solidFill>
                <a:latin typeface="Times New Roman"/>
              </a:rPr>
              <a:t>4</a:t>
            </a:r>
            <a:r>
              <a:rPr sz="5400" b="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" altLang="zh-CN" sz="5400" b="1" dirty="0">
                <a:solidFill>
                  <a:srgbClr val="000000"/>
                </a:solidFill>
                <a:latin typeface="Times New Roman"/>
              </a:rPr>
              <a:t>Yufeng Cui</a:t>
            </a:r>
            <a:r>
              <a:rPr lang="en-US" altLang="zh-CN" sz="5400" b="1" baseline="30000" dirty="0">
                <a:solidFill>
                  <a:srgbClr val="000000"/>
                </a:solidFill>
                <a:latin typeface="Times New Roman"/>
              </a:rPr>
              <a:t>4</a:t>
            </a:r>
            <a:r>
              <a:rPr lang="en" altLang="zh-CN" sz="5400" b="1" dirty="0">
                <a:solidFill>
                  <a:srgbClr val="000000"/>
                </a:solidFill>
                <a:latin typeface="Times New Roman"/>
              </a:rPr>
              <a:t> , Wenxuan Wang</a:t>
            </a:r>
            <a:r>
              <a:rPr lang="en-US" altLang="zh-CN" sz="5400" b="1" baseline="30000" dirty="0">
                <a:solidFill>
                  <a:srgbClr val="000000"/>
                </a:solidFill>
                <a:latin typeface="Times New Roman"/>
              </a:rPr>
              <a:t>4</a:t>
            </a:r>
            <a:r>
              <a:rPr lang="en" altLang="zh-CN" sz="5400" b="1" dirty="0">
                <a:solidFill>
                  <a:srgbClr val="000000"/>
                </a:solidFill>
                <a:latin typeface="Times New Roman"/>
              </a:rPr>
              <a:t>   </a:t>
            </a:r>
            <a:endParaRPr lang="en-US" altLang="zh-CN" sz="4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Box 43">
            <a:extLst>
              <a:ext uri="{FF2B5EF4-FFF2-40B4-BE49-F238E27FC236}">
                <a16:creationId xmlns:a16="http://schemas.microsoft.com/office/drawing/2014/main" id="{17354D00-BA94-72D9-AD77-9B270B2FFF9B}"/>
              </a:ext>
            </a:extLst>
          </p:cNvPr>
          <p:cNvSpPr txBox="1"/>
          <p:nvPr/>
        </p:nvSpPr>
        <p:spPr>
          <a:xfrm>
            <a:off x="5222214" y="22041465"/>
            <a:ext cx="7099300" cy="84673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rial"/>
              </a:defRPr>
            </a:pPr>
            <a:endParaRPr dirty="0"/>
          </a:p>
        </p:txBody>
      </p:sp>
      <p:sp>
        <p:nvSpPr>
          <p:cNvPr id="54" name="TextBox 48">
            <a:extLst>
              <a:ext uri="{FF2B5EF4-FFF2-40B4-BE49-F238E27FC236}">
                <a16:creationId xmlns:a16="http://schemas.microsoft.com/office/drawing/2014/main" id="{947790E2-8A1D-261D-07D6-D766786956C3}"/>
              </a:ext>
            </a:extLst>
          </p:cNvPr>
          <p:cNvSpPr txBox="1"/>
          <p:nvPr/>
        </p:nvSpPr>
        <p:spPr>
          <a:xfrm>
            <a:off x="32601511" y="10705495"/>
            <a:ext cx="3112132" cy="105841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Arial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49">
            <a:extLst>
              <a:ext uri="{FF2B5EF4-FFF2-40B4-BE49-F238E27FC236}">
                <a16:creationId xmlns:a16="http://schemas.microsoft.com/office/drawing/2014/main" id="{54E47205-0529-A88F-7050-16CF42DBBB15}"/>
              </a:ext>
            </a:extLst>
          </p:cNvPr>
          <p:cNvSpPr txBox="1"/>
          <p:nvPr/>
        </p:nvSpPr>
        <p:spPr>
          <a:xfrm>
            <a:off x="410149" y="9657787"/>
            <a:ext cx="18194741" cy="1092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Arial"/>
              </a:defRPr>
            </a:pPr>
            <a:r>
              <a:rPr sz="6400" dirty="0">
                <a:latin typeface="Georgia" panose="02040502050405020303" pitchFamily="18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56" name="TextBox 50">
            <a:extLst>
              <a:ext uri="{FF2B5EF4-FFF2-40B4-BE49-F238E27FC236}">
                <a16:creationId xmlns:a16="http://schemas.microsoft.com/office/drawing/2014/main" id="{AAF761FD-E163-9D7A-E3A2-0B102C3DF9C1}"/>
              </a:ext>
            </a:extLst>
          </p:cNvPr>
          <p:cNvSpPr txBox="1"/>
          <p:nvPr/>
        </p:nvSpPr>
        <p:spPr>
          <a:xfrm>
            <a:off x="410149" y="8031674"/>
            <a:ext cx="50367768" cy="12662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sz="3600" b="0">
                <a:solidFill>
                  <a:srgbClr val="000000"/>
                </a:solidFill>
                <a:latin typeface="Times New Roman"/>
              </a:defRPr>
            </a:pPr>
            <a:r>
              <a:rPr sz="4400" dirty="0"/>
              <a:t>* Equal contribution</a:t>
            </a:r>
            <a:r>
              <a:rPr lang="en-US" sz="4400" dirty="0"/>
              <a:t> </a:t>
            </a:r>
            <a:r>
              <a:rPr lang="en-US" altLang="zh-CN" sz="4400" dirty="0"/>
              <a:t>† </a:t>
            </a:r>
            <a:r>
              <a:rPr lang="en" altLang="zh-CN" sz="4400" dirty="0"/>
              <a:t>Corresponding Author   </a:t>
            </a:r>
          </a:p>
          <a:p>
            <a:pPr algn="ctr">
              <a:defRPr sz="3600" b="0">
                <a:solidFill>
                  <a:srgbClr val="000000"/>
                </a:solidFill>
                <a:latin typeface="Times New Roman"/>
              </a:defRPr>
            </a:pPr>
            <a:r>
              <a:rPr lang="en" altLang="zh-CN" sz="4800" dirty="0"/>
              <a:t>1 National Laboratory of Pattern Recognition, CASIA   2 Key Laboratory of Intelligent Information Processing, CAS</a:t>
            </a:r>
            <a:r>
              <a:rPr lang="en-US" altLang="zh-CN" sz="4800" dirty="0"/>
              <a:t>ICT</a:t>
            </a:r>
            <a:r>
              <a:rPr lang="en" altLang="zh-CN" sz="4800" dirty="0"/>
              <a:t>   </a:t>
            </a:r>
            <a:r>
              <a:rPr lang="en-US" altLang="zh-CN" sz="4800" dirty="0"/>
              <a:t>3</a:t>
            </a:r>
            <a:r>
              <a:rPr lang="en" altLang="zh-CN" sz="4800" dirty="0"/>
              <a:t> Zhejiang University   </a:t>
            </a:r>
            <a:r>
              <a:rPr lang="en-US" altLang="zh-CN" sz="4800" dirty="0"/>
              <a:t>4</a:t>
            </a:r>
            <a:r>
              <a:rPr lang="en" altLang="zh-CN" sz="4800" dirty="0"/>
              <a:t> Beijing Academy of Artificial Intelligence</a:t>
            </a:r>
          </a:p>
        </p:txBody>
      </p:sp>
      <p:sp>
        <p:nvSpPr>
          <p:cNvPr id="62" name="TextBox 56">
            <a:extLst>
              <a:ext uri="{FF2B5EF4-FFF2-40B4-BE49-F238E27FC236}">
                <a16:creationId xmlns:a16="http://schemas.microsoft.com/office/drawing/2014/main" id="{B2E04F9A-E7FB-6B66-2E49-935E9B933DAA}"/>
              </a:ext>
            </a:extLst>
          </p:cNvPr>
          <p:cNvSpPr txBox="1"/>
          <p:nvPr/>
        </p:nvSpPr>
        <p:spPr>
          <a:xfrm>
            <a:off x="43403363" y="498721"/>
            <a:ext cx="3357156" cy="87369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Times New Roman"/>
              </a:defRPr>
            </a:pPr>
            <a:r>
              <a:rPr sz="5400" dirty="0" err="1">
                <a:latin typeface="Georgia" panose="02040502050405020303" pitchFamily="18" charset="0"/>
              </a:rPr>
              <a:t>Wechat</a:t>
            </a:r>
            <a:endParaRPr sz="5400" dirty="0">
              <a:latin typeface="Georgia" panose="02040502050405020303" pitchFamily="18" charset="0"/>
            </a:endParaRPr>
          </a:p>
        </p:txBody>
      </p:sp>
      <p:sp>
        <p:nvSpPr>
          <p:cNvPr id="63" name="TextBox 29">
            <a:extLst>
              <a:ext uri="{FF2B5EF4-FFF2-40B4-BE49-F238E27FC236}">
                <a16:creationId xmlns:a16="http://schemas.microsoft.com/office/drawing/2014/main" id="{E29E1F11-2A91-1850-58E2-A664A8CEAE4A}"/>
              </a:ext>
            </a:extLst>
          </p:cNvPr>
          <p:cNvSpPr txBox="1"/>
          <p:nvPr/>
        </p:nvSpPr>
        <p:spPr>
          <a:xfrm>
            <a:off x="10499835" y="7228752"/>
            <a:ext cx="29765296" cy="7136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Times New Roman"/>
              </a:defRPr>
            </a:pPr>
            <a:r>
              <a:rPr lang="en" altLang="zh-CN" sz="5400" b="1" dirty="0">
                <a:solidFill>
                  <a:srgbClr val="000000"/>
                </a:solidFill>
                <a:latin typeface="Times New Roman"/>
              </a:rPr>
              <a:t>Chunhua Shen</a:t>
            </a:r>
            <a:r>
              <a:rPr lang="en-US" altLang="zh-CN" sz="5400" b="1" baseline="30000" dirty="0">
                <a:solidFill>
                  <a:srgbClr val="000000"/>
                </a:solidFill>
                <a:latin typeface="Times New Roman"/>
              </a:rPr>
              <a:t>3</a:t>
            </a:r>
            <a:r>
              <a:rPr lang="en" altLang="zh-CN" sz="5400" b="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" altLang="zh-CN" sz="5400" b="1" dirty="0" err="1">
                <a:solidFill>
                  <a:srgbClr val="000000"/>
                </a:solidFill>
                <a:latin typeface="Times New Roman"/>
              </a:rPr>
              <a:t>Shiguang</a:t>
            </a:r>
            <a:r>
              <a:rPr lang="en" altLang="zh-CN" sz="5400" b="1" dirty="0">
                <a:solidFill>
                  <a:srgbClr val="000000"/>
                </a:solidFill>
                <a:latin typeface="Times New Roman"/>
              </a:rPr>
              <a:t> Shan</a:t>
            </a:r>
            <a:r>
              <a:rPr lang="en-US" altLang="zh-CN" sz="5400" b="1" baseline="30000" dirty="0">
                <a:solidFill>
                  <a:srgbClr val="000000"/>
                </a:solidFill>
                <a:latin typeface="Times New Roman"/>
              </a:rPr>
              <a:t>2</a:t>
            </a:r>
            <a:r>
              <a:rPr lang="en" altLang="zh-CN" sz="5400" b="1" dirty="0">
                <a:solidFill>
                  <a:srgbClr val="000000"/>
                </a:solidFill>
                <a:latin typeface="Times New Roman"/>
              </a:rPr>
              <a:t>, Zhaoxiang Zhang</a:t>
            </a:r>
            <a:r>
              <a:rPr lang="en-US" altLang="zh-CN" sz="5400" b="1" baseline="30000" dirty="0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altLang="zh-CN" sz="5400" b="1" dirty="0"/>
              <a:t>† </a:t>
            </a:r>
            <a:r>
              <a:rPr lang="en" altLang="zh-CN" sz="5400" b="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" altLang="zh-CN" sz="5400" b="1" dirty="0" err="1">
                <a:solidFill>
                  <a:srgbClr val="000000"/>
                </a:solidFill>
                <a:latin typeface="Times New Roman"/>
              </a:rPr>
              <a:t>Xinlong</a:t>
            </a:r>
            <a:r>
              <a:rPr lang="en" altLang="zh-CN" sz="5400" b="1" dirty="0">
                <a:solidFill>
                  <a:srgbClr val="000000"/>
                </a:solidFill>
                <a:latin typeface="Times New Roman"/>
              </a:rPr>
              <a:t> Wang</a:t>
            </a:r>
            <a:r>
              <a:rPr lang="en-US" altLang="zh-CN" sz="4400" b="1" baseline="30000" dirty="0">
                <a:solidFill>
                  <a:srgbClr val="000000"/>
                </a:solidFill>
                <a:latin typeface="Times New Roman"/>
              </a:rPr>
              <a:t>4</a:t>
            </a:r>
            <a:r>
              <a:rPr lang="en-US" altLang="zh-CN" sz="5400" b="1" dirty="0"/>
              <a:t>†</a:t>
            </a:r>
          </a:p>
          <a:p>
            <a:pPr algn="ctr">
              <a:defRPr sz="4800" b="1">
                <a:solidFill>
                  <a:srgbClr val="000000"/>
                </a:solidFill>
                <a:latin typeface="Times New Roman"/>
              </a:defRPr>
            </a:pPr>
            <a:endParaRPr lang="en-US" altLang="zh-CN" sz="400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4" name="图片 63" descr="QR 代码&#10;&#10;AI 生成的内容可能不正确。">
            <a:extLst>
              <a:ext uri="{FF2B5EF4-FFF2-40B4-BE49-F238E27FC236}">
                <a16:creationId xmlns:a16="http://schemas.microsoft.com/office/drawing/2014/main" id="{6AF42B87-0F1D-ABD6-D0A3-01F90B0492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58111" y="1384731"/>
            <a:ext cx="2775397" cy="27753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3F1972E-D0A2-1E4E-4946-924114FCB827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786305" y="12320208"/>
            <a:ext cx="31027839" cy="1104877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30154EF-0469-F60E-EBA1-BB942886F9F3}"/>
              </a:ext>
            </a:extLst>
          </p:cNvPr>
          <p:cNvSpPr txBox="1"/>
          <p:nvPr/>
        </p:nvSpPr>
        <p:spPr>
          <a:xfrm>
            <a:off x="277790" y="10714003"/>
            <a:ext cx="18506658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4400" dirty="0">
                <a:solidFill>
                  <a:srgbClr val="000000"/>
                </a:solidFill>
                <a:latin typeface="Georgia" panose="02040502050405020303" pitchFamily="18" charset="0"/>
              </a:rPr>
              <a:t>Unlike classic </a:t>
            </a:r>
            <a:r>
              <a:rPr lang="en" altLang="zh-CN" sz="4400" u="sng" dirty="0">
                <a:solidFill>
                  <a:srgbClr val="000000"/>
                </a:solidFill>
                <a:latin typeface="Georgia" panose="02040502050405020303" pitchFamily="18" charset="0"/>
              </a:rPr>
              <a:t>AR</a:t>
            </a:r>
            <a:r>
              <a:rPr lang="en" altLang="zh-CN" sz="4400" dirty="0">
                <a:solidFill>
                  <a:srgbClr val="000000"/>
                </a:solidFill>
                <a:latin typeface="Georgia" panose="02040502050405020303" pitchFamily="18" charset="0"/>
              </a:rPr>
              <a:t> models and </a:t>
            </a:r>
            <a:r>
              <a:rPr lang="en" altLang="zh-CN" sz="4400" u="sng" dirty="0">
                <a:solidFill>
                  <a:srgbClr val="000000"/>
                </a:solidFill>
                <a:latin typeface="Georgia" panose="02040502050405020303" pitchFamily="18" charset="0"/>
              </a:rPr>
              <a:t>MDM</a:t>
            </a:r>
            <a:r>
              <a:rPr lang="en" altLang="zh-CN" sz="4400" dirty="0">
                <a:solidFill>
                  <a:srgbClr val="000000"/>
                </a:solidFill>
                <a:latin typeface="Georgia" panose="02040502050405020303" pitchFamily="18" charset="0"/>
              </a:rPr>
              <a:t> that adopt non-refinable local generation, where produced tokens are fixed once generated,</a:t>
            </a:r>
          </a:p>
          <a:p>
            <a:r>
              <a:rPr lang="en" altLang="zh-CN" sz="4400" dirty="0">
                <a:solidFill>
                  <a:srgbClr val="000000"/>
                </a:solidFill>
                <a:latin typeface="Georgia" panose="02040502050405020303" pitchFamily="18" charset="0"/>
              </a:rPr>
              <a:t>URSA emphasizes </a:t>
            </a:r>
            <a:r>
              <a:rPr lang="en" altLang="zh-CN" sz="4800" b="1" i="1" dirty="0">
                <a:solidFill>
                  <a:srgbClr val="C00000"/>
                </a:solidFill>
                <a:latin typeface="Georgia" panose="02040502050405020303" pitchFamily="18" charset="0"/>
              </a:rPr>
              <a:t>iterative refinement </a:t>
            </a:r>
            <a:r>
              <a:rPr lang="en" altLang="zh-CN" sz="4400" dirty="0">
                <a:solidFill>
                  <a:srgbClr val="000000"/>
                </a:solidFill>
                <a:latin typeface="Georgia" panose="02040502050405020303" pitchFamily="18" charset="0"/>
              </a:rPr>
              <a:t>over global discrete tokens, conceptually aligning discrete methods with continuous counterparts, </a:t>
            </a:r>
          </a:p>
          <a:p>
            <a:r>
              <a:rPr lang="en" altLang="zh-CN" sz="4400" dirty="0">
                <a:solidFill>
                  <a:srgbClr val="000000"/>
                </a:solidFill>
                <a:latin typeface="Georgia" panose="02040502050405020303" pitchFamily="18" charset="0"/>
              </a:rPr>
              <a:t>and substantially narrowing their performance gap.</a:t>
            </a:r>
          </a:p>
          <a:p>
            <a:endParaRPr lang="zh-CN" altLang="en-US" sz="4400" dirty="0">
              <a:solidFill>
                <a:srgbClr val="000000"/>
              </a:solidFill>
              <a:latin typeface="Georgia" panose="02040502050405020303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15F9F7D-3F81-62DD-C864-A42EF829E8F2}"/>
                  </a:ext>
                </a:extLst>
              </p:cNvPr>
              <p:cNvSpPr txBox="1"/>
              <p:nvPr/>
            </p:nvSpPr>
            <p:spPr>
              <a:xfrm>
                <a:off x="158421" y="21740567"/>
                <a:ext cx="19356581" cy="21236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" altLang="zh-CN" sz="4400" dirty="0">
                    <a:solidFill>
                      <a:srgbClr val="000000"/>
                    </a:solidFill>
                    <a:latin typeface="Georgia" panose="02040502050405020303" pitchFamily="18" charset="0"/>
                  </a:rPr>
                  <a:t>Starting from categorical noise </a:t>
                </a:r>
                <a14:m>
                  <m:oMath xmlns:m="http://schemas.openxmlformats.org/officeDocument/2006/math">
                    <m:r>
                      <a:rPr lang="en" altLang="zh-CN" sz="4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4400" b="0" i="1" baseline="-250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" altLang="zh-CN" sz="4400" baseline="-25000" dirty="0">
                    <a:solidFill>
                      <a:srgbClr val="000000"/>
                    </a:solidFill>
                    <a:latin typeface="Georgia" panose="02040502050405020303" pitchFamily="18" charset="0"/>
                  </a:rPr>
                  <a:t> </a:t>
                </a:r>
                <a:r>
                  <a:rPr lang="en" altLang="zh-CN" sz="4400" dirty="0">
                    <a:solidFill>
                      <a:srgbClr val="000000"/>
                    </a:solidFill>
                    <a:latin typeface="Georgia" panose="02040502050405020303" pitchFamily="18" charset="0"/>
                  </a:rPr>
                  <a:t>(left), our framework refines data based on </a:t>
                </a:r>
              </a:p>
              <a:p>
                <a:r>
                  <a:rPr lang="en" altLang="zh-CN" sz="4400" b="1" i="1" dirty="0">
                    <a:solidFill>
                      <a:srgbClr val="C00000"/>
                    </a:solidFill>
                    <a:latin typeface="Georgia" panose="02040502050405020303" pitchFamily="18" charset="0"/>
                  </a:rPr>
                  <a:t>token distance </a:t>
                </a:r>
                <a:r>
                  <a:rPr lang="en" altLang="zh-CN" sz="4400" dirty="0">
                    <a:solidFill>
                      <a:srgbClr val="000000"/>
                    </a:solidFill>
                    <a:latin typeface="Georgia" panose="02040502050405020303" pitchFamily="18" charset="0"/>
                  </a:rPr>
                  <a:t>to get target data </a:t>
                </a:r>
                <a14:m>
                  <m:oMath xmlns:m="http://schemas.openxmlformats.org/officeDocument/2006/math">
                    <m:r>
                      <a:rPr lang="en" altLang="zh-CN" sz="4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4400" b="0" i="1" baseline="-250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" altLang="zh-CN" sz="4400" dirty="0">
                    <a:solidFill>
                      <a:srgbClr val="000000"/>
                    </a:solidFill>
                    <a:latin typeface="Georgia" panose="02040502050405020303" pitchFamily="18" charset="0"/>
                  </a:rPr>
                  <a:t> (right), enabling hierarchical structure </a:t>
                </a:r>
              </a:p>
              <a:p>
                <a:r>
                  <a:rPr lang="en" altLang="zh-CN" sz="4400" dirty="0">
                    <a:solidFill>
                      <a:srgbClr val="000000"/>
                    </a:solidFill>
                    <a:latin typeface="Georgia" panose="02040502050405020303" pitchFamily="18" charset="0"/>
                  </a:rPr>
                  <a:t>generation from global semantics to fine details.</a:t>
                </a:r>
                <a:endParaRPr lang="zh-CN" altLang="en-US" sz="4400" dirty="0">
                  <a:solidFill>
                    <a:srgbClr val="000000"/>
                  </a:solidFill>
                  <a:latin typeface="Georgia" panose="02040502050405020303" pitchFamily="18" charset="0"/>
                </a:endParaRPr>
              </a:p>
            </p:txBody>
          </p:sp>
        </mc:Choice>
        <mc:Fallback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15F9F7D-3F81-62DD-C864-A42EF829E8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21" y="21740567"/>
                <a:ext cx="19356581" cy="2123658"/>
              </a:xfrm>
              <a:prstGeom prst="rect">
                <a:avLst/>
              </a:prstGeom>
              <a:blipFill>
                <a:blip r:embed="rId7"/>
                <a:stretch>
                  <a:fillRect l="-1311" t="-5325" r="-328" b="-124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9">
            <a:extLst>
              <a:ext uri="{FF2B5EF4-FFF2-40B4-BE49-F238E27FC236}">
                <a16:creationId xmlns:a16="http://schemas.microsoft.com/office/drawing/2014/main" id="{55CF3CD2-5698-3E5E-DD11-8BBC1246E0AC}"/>
              </a:ext>
            </a:extLst>
          </p:cNvPr>
          <p:cNvSpPr/>
          <p:nvPr/>
        </p:nvSpPr>
        <p:spPr>
          <a:xfrm>
            <a:off x="19788443" y="9591846"/>
            <a:ext cx="30991263" cy="1051292"/>
          </a:xfrm>
          <a:prstGeom prst="rect">
            <a:avLst/>
          </a:prstGeom>
          <a:solidFill>
            <a:srgbClr val="0A3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31">
            <a:extLst>
              <a:ext uri="{FF2B5EF4-FFF2-40B4-BE49-F238E27FC236}">
                <a16:creationId xmlns:a16="http://schemas.microsoft.com/office/drawing/2014/main" id="{030E3C78-C6D3-45C4-1478-9E7684ABB2BC}"/>
              </a:ext>
            </a:extLst>
          </p:cNvPr>
          <p:cNvSpPr txBox="1"/>
          <p:nvPr/>
        </p:nvSpPr>
        <p:spPr>
          <a:xfrm>
            <a:off x="19728466" y="9561095"/>
            <a:ext cx="30991262" cy="12253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Times New Roman"/>
              </a:defRPr>
            </a:pPr>
            <a:r>
              <a:rPr lang="en-US" altLang="zh-CN" sz="6400" dirty="0">
                <a:solidFill>
                  <a:schemeClr val="bg1"/>
                </a:solidFill>
                <a:latin typeface="Georgia" panose="02040502050405020303" pitchFamily="18" charset="0"/>
              </a:rPr>
              <a:t>Results</a:t>
            </a:r>
            <a:endParaRPr sz="6400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47FAE661-919C-3E9B-77DF-82D3E1F78973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452225" y="23622026"/>
            <a:ext cx="17661004" cy="8568000"/>
          </a:xfrm>
          <a:prstGeom prst="rect">
            <a:avLst/>
          </a:prstGeom>
        </p:spPr>
      </p:pic>
      <p:sp>
        <p:nvSpPr>
          <p:cNvPr id="18" name="TextBox 31">
            <a:extLst>
              <a:ext uri="{FF2B5EF4-FFF2-40B4-BE49-F238E27FC236}">
                <a16:creationId xmlns:a16="http://schemas.microsoft.com/office/drawing/2014/main" id="{9646E274-3931-AD25-F032-0502046781AA}"/>
              </a:ext>
            </a:extLst>
          </p:cNvPr>
          <p:cNvSpPr txBox="1"/>
          <p:nvPr/>
        </p:nvSpPr>
        <p:spPr>
          <a:xfrm>
            <a:off x="158420" y="20563581"/>
            <a:ext cx="18816533" cy="111950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Times New Roman"/>
              </a:defRPr>
            </a:pPr>
            <a:r>
              <a:rPr lang="en-US" altLang="zh-CN" sz="6400" dirty="0">
                <a:solidFill>
                  <a:schemeClr val="bg1"/>
                </a:solidFill>
                <a:latin typeface="Georgia" panose="02040502050405020303" pitchFamily="18" charset="0"/>
              </a:rPr>
              <a:t>Methods</a:t>
            </a:r>
            <a:endParaRPr sz="6400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6BA8D77-B418-C6EF-FE9C-31DAFDA44CF1}"/>
              </a:ext>
            </a:extLst>
          </p:cNvPr>
          <p:cNvSpPr txBox="1"/>
          <p:nvPr/>
        </p:nvSpPr>
        <p:spPr>
          <a:xfrm>
            <a:off x="19728466" y="10709846"/>
            <a:ext cx="30991263" cy="3083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4800" u="sng" dirty="0">
                <a:solidFill>
                  <a:srgbClr val="000000"/>
                </a:solidFill>
                <a:latin typeface="Georgia" panose="02040502050405020303" pitchFamily="18" charset="0"/>
              </a:rPr>
              <a:t>URSA</a:t>
            </a:r>
            <a:r>
              <a:rPr lang="en" altLang="zh-CN" sz="4800" dirty="0">
                <a:solidFill>
                  <a:srgbClr val="000000"/>
                </a:solidFill>
                <a:latin typeface="Georgia" panose="02040502050405020303" pitchFamily="18" charset="0"/>
              </a:rPr>
              <a:t> rivals Sora-like text-to-video generation models despite using a </a:t>
            </a:r>
            <a:r>
              <a:rPr lang="en" altLang="zh-CN" sz="4800" b="1" i="1" dirty="0">
                <a:solidFill>
                  <a:srgbClr val="C00000"/>
                </a:solidFill>
                <a:latin typeface="Georgia" panose="02040502050405020303" pitchFamily="18" charset="0"/>
              </a:rPr>
              <a:t>discrete video tokenizer </a:t>
            </a:r>
            <a:r>
              <a:rPr lang="en" altLang="zh-CN" sz="4800" dirty="0">
                <a:solidFill>
                  <a:srgbClr val="000000"/>
                </a:solidFill>
                <a:latin typeface="Georgia" panose="02040502050405020303" pitchFamily="18" charset="0"/>
              </a:rPr>
              <a:t>and performs</a:t>
            </a:r>
          </a:p>
          <a:p>
            <a:r>
              <a:rPr lang="en" altLang="zh-CN" sz="4800" dirty="0">
                <a:solidFill>
                  <a:srgbClr val="000000"/>
                </a:solidFill>
                <a:latin typeface="Georgia" panose="02040502050405020303" pitchFamily="18" charset="0"/>
              </a:rPr>
              <a:t> on par with the state-of-the-art models in generating high-resolution images.</a:t>
            </a:r>
          </a:p>
          <a:p>
            <a:br>
              <a:rPr lang="en" altLang="zh-CN" sz="4800" dirty="0">
                <a:latin typeface="Georgia" panose="02040502050405020303" pitchFamily="18" charset="0"/>
              </a:rPr>
            </a:br>
            <a:endParaRPr lang="en" altLang="zh-CN" sz="4800" dirty="0">
              <a:solidFill>
                <a:srgbClr val="000000"/>
              </a:solidFill>
              <a:latin typeface="Georgia" panose="02040502050405020303" pitchFamily="18" charset="0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1917B6A8-14BA-7AC1-1140-5857554E56DD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61862" y="23987730"/>
            <a:ext cx="19221424" cy="828000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31871000-3199-4C5D-FBD3-1E6A673F1EE5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167305" y="23613184"/>
            <a:ext cx="14188271" cy="8534569"/>
          </a:xfrm>
          <a:prstGeom prst="rect">
            <a:avLst/>
          </a:prstGeom>
        </p:spPr>
      </p:pic>
      <p:sp>
        <p:nvSpPr>
          <p:cNvPr id="3" name="TextBox 56">
            <a:extLst>
              <a:ext uri="{FF2B5EF4-FFF2-40B4-BE49-F238E27FC236}">
                <a16:creationId xmlns:a16="http://schemas.microsoft.com/office/drawing/2014/main" id="{F207B64C-39AB-0F41-A76B-3E2E1A9EBCA2}"/>
              </a:ext>
            </a:extLst>
          </p:cNvPr>
          <p:cNvSpPr txBox="1"/>
          <p:nvPr/>
        </p:nvSpPr>
        <p:spPr>
          <a:xfrm>
            <a:off x="47299675" y="448802"/>
            <a:ext cx="2857349" cy="8238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Times New Roman"/>
              </a:defRPr>
            </a:pPr>
            <a:r>
              <a:rPr lang="en-US" altLang="zh-CN" sz="5400" dirty="0" err="1">
                <a:latin typeface="Georgia" panose="02040502050405020303" pitchFamily="18" charset="0"/>
                <a:cs typeface="Arial" panose="020B0604020202020204" pitchFamily="34" charset="0"/>
              </a:rPr>
              <a:t>Github</a:t>
            </a:r>
            <a:endParaRPr sz="5400" dirty="0"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pic>
        <p:nvPicPr>
          <p:cNvPr id="5" name="图片 9" descr="coop_baai">
            <a:extLst>
              <a:ext uri="{FF2B5EF4-FFF2-40B4-BE49-F238E27FC236}">
                <a16:creationId xmlns:a16="http://schemas.microsoft.com/office/drawing/2014/main" id="{21630651-D9DA-01E9-7879-A8C8D18A55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20225" y="852442"/>
            <a:ext cx="4933931" cy="2304000"/>
          </a:xfrm>
          <a:prstGeom prst="rect">
            <a:avLst/>
          </a:prstGeom>
        </p:spPr>
      </p:pic>
      <p:pic>
        <p:nvPicPr>
          <p:cNvPr id="6" name="图片 5" descr="6586500c7b7908aa8c16c46c265afb87">
            <a:extLst>
              <a:ext uri="{FF2B5EF4-FFF2-40B4-BE49-F238E27FC236}">
                <a16:creationId xmlns:a16="http://schemas.microsoft.com/office/drawing/2014/main" id="{5BB7EE5C-1BE0-2C6B-68E1-0434EB66899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72088" y="378111"/>
            <a:ext cx="3060000" cy="30600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DD9A361-831B-FFE8-15FE-1949F4E606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599" y="14331862"/>
            <a:ext cx="19476000" cy="5998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6208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2045</TotalTime>
  <Words>209</Words>
  <Application>Microsoft Macintosh PowerPoint</Application>
  <PresentationFormat>自定义</PresentationFormat>
  <Paragraphs>20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Arial</vt:lpstr>
      <vt:lpstr>Calibri</vt:lpstr>
      <vt:lpstr>Cambria Math</vt:lpstr>
      <vt:lpstr>Georgia</vt:lpstr>
      <vt:lpstr>Times New Roman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neo</cp:lastModifiedBy>
  <cp:revision>85</cp:revision>
  <dcterms:created xsi:type="dcterms:W3CDTF">2013-01-27T09:14:16Z</dcterms:created>
  <dcterms:modified xsi:type="dcterms:W3CDTF">2026-05-07T16:28:26Z</dcterms:modified>
  <cp:category/>
</cp:coreProperties>
</file>